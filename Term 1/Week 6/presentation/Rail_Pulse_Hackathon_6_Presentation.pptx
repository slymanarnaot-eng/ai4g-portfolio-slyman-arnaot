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7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38160" y="914400"/>
            <a:ext cx="658368" cy="4663440"/>
          </a:xfrm>
          <a:prstGeom prst="roundRect">
            <a:avLst>
              <a:gd name="adj" fmla="val 12000"/>
            </a:avLst>
          </a:prstGeom>
          <a:solidFill>
            <a:srgbClr val="1C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52560" y="914400"/>
            <a:ext cx="658368" cy="4663440"/>
          </a:xfrm>
          <a:prstGeom prst="roundRect">
            <a:avLst>
              <a:gd name="adj" fmla="val 12000"/>
            </a:avLst>
          </a:prstGeom>
          <a:solidFill>
            <a:srgbClr val="55C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66960" y="914400"/>
            <a:ext cx="658368" cy="4663440"/>
          </a:xfrm>
          <a:prstGeom prst="roundRect">
            <a:avLst>
              <a:gd name="adj" fmla="val 12000"/>
            </a:avLst>
          </a:prstGeom>
          <a:solidFill>
            <a:srgbClr val="F5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001000" y="3931920"/>
            <a:ext cx="594360" cy="0"/>
          </a:xfrm>
          <a:prstGeom prst="line">
            <a:avLst/>
          </a:prstGeom>
          <a:ln w="30480">
            <a:solidFill>
              <a:srgbClr val="55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595360" y="3383280"/>
            <a:ext cx="411480" cy="548640"/>
          </a:xfrm>
          <a:prstGeom prst="line">
            <a:avLst/>
          </a:prstGeom>
          <a:ln w="30480">
            <a:solidFill>
              <a:srgbClr val="55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006840" y="3383280"/>
            <a:ext cx="320040" cy="1188720"/>
          </a:xfrm>
          <a:prstGeom prst="line">
            <a:avLst/>
          </a:prstGeom>
          <a:ln w="30480">
            <a:solidFill>
              <a:srgbClr val="55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326880" y="2560320"/>
            <a:ext cx="411480" cy="2011680"/>
          </a:xfrm>
          <a:prstGeom prst="line">
            <a:avLst/>
          </a:prstGeom>
          <a:ln w="30480">
            <a:solidFill>
              <a:srgbClr val="55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38360" y="2560320"/>
            <a:ext cx="457200" cy="1463040"/>
          </a:xfrm>
          <a:prstGeom prst="line">
            <a:avLst/>
          </a:prstGeom>
          <a:ln w="30480">
            <a:solidFill>
              <a:srgbClr val="55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95560" y="4023360"/>
            <a:ext cx="457200" cy="0"/>
          </a:xfrm>
          <a:prstGeom prst="line">
            <a:avLst/>
          </a:prstGeom>
          <a:ln w="30480">
            <a:solidFill>
              <a:srgbClr val="55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652760" y="3474720"/>
            <a:ext cx="502920" cy="548640"/>
          </a:xfrm>
          <a:prstGeom prst="line">
            <a:avLst/>
          </a:prstGeom>
          <a:ln w="30480">
            <a:solidFill>
              <a:srgbClr val="55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55680" y="3474720"/>
            <a:ext cx="411480" cy="457200"/>
          </a:xfrm>
          <a:prstGeom prst="line">
            <a:avLst/>
          </a:prstGeom>
          <a:ln w="30480">
            <a:solidFill>
              <a:srgbClr val="55C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936992" y="3867911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31352" y="3867911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42832" y="331927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450799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74352" y="249631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31552" y="395935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88752" y="395935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91672" y="341071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03152" y="3867911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685800"/>
            <a:ext cx="2423160" cy="310896"/>
          </a:xfrm>
          <a:prstGeom prst="roundRect">
            <a:avLst>
              <a:gd name="adj" fmla="val 12000"/>
            </a:avLst>
          </a:prstGeom>
          <a:solidFill>
            <a:srgbClr val="20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736092"/>
            <a:ext cx="2276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E8DC"/>
                </a:solidFill>
                <a:latin typeface="Aptos"/>
              </a:rPr>
              <a:t>HACKATHON 6 · LIVE PULSE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1417320"/>
            <a:ext cx="58521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ptos"/>
              </a:rPr>
              <a:t>RAIL
PULSE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611880"/>
            <a:ext cx="5715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DDE7F4"/>
                </a:solidFill>
                <a:latin typeface="Aptos"/>
              </a:rPr>
              <a:t>Live sentiment signals for
Dutch railway conversations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4892040"/>
            <a:ext cx="5029200" cy="18288"/>
          </a:xfrm>
          <a:prstGeom prst="rect">
            <a:avLst/>
          </a:prstGeom>
          <a:solidFill>
            <a:srgbClr val="1C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38928"/>
            <a:ext cx="5669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C7D9"/>
                </a:solidFill>
                <a:latin typeface="Aptos"/>
              </a:rPr>
              <a:t>A monitoring tool for service-quality and passenger-communications teams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6144768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6C9"/>
                </a:solidFill>
                <a:latin typeface="Aptos"/>
              </a:rPr>
              <a:t>SDG 9  ·  Industry, Innovation and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6C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6C9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01 · PROBLEM &amp;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1D33"/>
                </a:solidFill>
                <a:latin typeface="Aptos"/>
              </a:rPr>
              <a:t>A railway team cannot read every public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189"/>
                </a:solidFill>
                <a:latin typeface="Aptos"/>
              </a:rPr>
              <a:t>Rail Pulse turns a large stream of public text into signals worth investigating.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874519"/>
            <a:ext cx="64008" cy="2514600"/>
          </a:xfrm>
          <a:prstGeom prst="rect">
            <a:avLst/>
          </a:prstGeom>
          <a:solidFill>
            <a:srgbClr val="EF6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039112"/>
            <a:ext cx="3136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D33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496312"/>
            <a:ext cx="3127248" cy="176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F6A67"/>
                </a:solidFill>
                <a:latin typeface="Aptos"/>
              </a:rPr>
              <a:t>•  </a:t>
            </a:r>
            <a:r>
              <a:rPr sz="1300" b="1">
                <a:solidFill>
                  <a:srgbClr val="142237"/>
                </a:solidFill>
                <a:latin typeface="Aptos"/>
              </a:rPr>
              <a:t>Volume. </a:t>
            </a:r>
            <a:r>
              <a:rPr sz="1300">
                <a:solidFill>
                  <a:srgbClr val="142237"/>
                </a:solidFill>
                <a:latin typeface="Aptos"/>
              </a:rPr>
              <a:t>Posts arrive continuously across public platforms.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F6A67"/>
                </a:solidFill>
                <a:latin typeface="Aptos"/>
              </a:rPr>
              <a:t>•  </a:t>
            </a:r>
            <a:r>
              <a:rPr sz="1300" b="1">
                <a:solidFill>
                  <a:srgbClr val="142237"/>
                </a:solidFill>
                <a:latin typeface="Aptos"/>
              </a:rPr>
              <a:t>Late discovery. </a:t>
            </a:r>
            <a:r>
              <a:rPr sz="1300">
                <a:solidFill>
                  <a:srgbClr val="142237"/>
                </a:solidFill>
                <a:latin typeface="Aptos"/>
              </a:rPr>
              <a:t>A service issue may become visible only after frustration spreads.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EF6A67"/>
                </a:solidFill>
                <a:latin typeface="Aptos"/>
              </a:rPr>
              <a:t>•  </a:t>
            </a:r>
            <a:r>
              <a:rPr sz="1300" b="1">
                <a:solidFill>
                  <a:srgbClr val="142237"/>
                </a:solidFill>
                <a:latin typeface="Aptos"/>
              </a:rPr>
              <a:t>Scattered context. </a:t>
            </a:r>
            <a:r>
              <a:rPr sz="1300">
                <a:solidFill>
                  <a:srgbClr val="142237"/>
                </a:solidFill>
                <a:latin typeface="Aptos"/>
              </a:rPr>
              <a:t>People describe delays and disruptions in different 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4290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64008" cy="2514600"/>
          </a:xfrm>
          <a:prstGeom prst="rect">
            <a:avLst/>
          </a:prstGeom>
          <a:solidFill>
            <a:srgbClr val="55C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039112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D33"/>
                </a:solidFill>
                <a:latin typeface="Aptos"/>
              </a:rPr>
              <a:t>Primary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96312"/>
            <a:ext cx="3035808" cy="176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5C9E8"/>
                </a:solidFill>
                <a:latin typeface="Aptos"/>
              </a:rPr>
              <a:t>•  </a:t>
            </a:r>
            <a:r>
              <a:rPr sz="1300" b="1">
                <a:solidFill>
                  <a:srgbClr val="142237"/>
                </a:solidFill>
                <a:latin typeface="Aptos"/>
              </a:rPr>
              <a:t>Who? </a:t>
            </a:r>
            <a:r>
              <a:rPr sz="1300">
                <a:solidFill>
                  <a:srgbClr val="142237"/>
                </a:solidFill>
                <a:latin typeface="Aptos"/>
              </a:rPr>
              <a:t>An NS/ProRail communications or service-quality analyst.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5C9E8"/>
                </a:solidFill>
                <a:latin typeface="Aptos"/>
              </a:rPr>
              <a:t>•  </a:t>
            </a:r>
            <a:r>
              <a:rPr sz="1300" b="1">
                <a:solidFill>
                  <a:srgbClr val="142237"/>
                </a:solidFill>
                <a:latin typeface="Aptos"/>
              </a:rPr>
              <a:t>Need. </a:t>
            </a:r>
            <a:r>
              <a:rPr sz="1300">
                <a:solidFill>
                  <a:srgbClr val="142237"/>
                </a:solidFill>
                <a:latin typeface="Aptos"/>
              </a:rPr>
              <a:t>Notice unusual changes in public conversation.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5C9E8"/>
                </a:solidFill>
                <a:latin typeface="Aptos"/>
              </a:rPr>
              <a:t>•  </a:t>
            </a:r>
            <a:r>
              <a:rPr sz="1300" b="1">
                <a:solidFill>
                  <a:srgbClr val="142237"/>
                </a:solidFill>
                <a:latin typeface="Aptos"/>
              </a:rPr>
              <a:t>Boundary. </a:t>
            </a:r>
            <a:r>
              <a:rPr sz="1300">
                <a:solidFill>
                  <a:srgbClr val="142237"/>
                </a:solidFill>
                <a:latin typeface="Aptos"/>
              </a:rPr>
              <a:t>Social posts are signals, not a survey of all passengers.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874519"/>
            <a:ext cx="3566160" cy="2514600"/>
          </a:xfrm>
          <a:prstGeom prst="roundRect">
            <a:avLst>
              <a:gd name="adj" fmla="val 12000"/>
            </a:avLst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15798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CB8A7"/>
                </a:solidFill>
                <a:latin typeface="Aptos"/>
              </a:rPr>
              <a:t>THE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63347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“Where should we
investigate first?”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749039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6E5"/>
                </a:solidFill>
                <a:latin typeface="Aptos"/>
              </a:rPr>
              <a:t>The dashboard helps prioritise a human check; it does not diagnose the cause.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892040"/>
            <a:ext cx="10927080" cy="77724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023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D33"/>
                </a:solidFill>
                <a:latin typeface="Aptos"/>
              </a:rPr>
              <a:t>SDG 9 connection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074920"/>
            <a:ext cx="8412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237"/>
                </a:solidFill>
                <a:latin typeface="Aptos"/>
              </a:rPr>
              <a:t>More responsive monitoring of railway infrastructure and service disruption signals.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02 · PRODUCT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1D33"/>
                </a:solidFill>
                <a:latin typeface="Aptos"/>
              </a:rPr>
              <a:t>One focused question: what is the public mood around Dutch rail?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189"/>
                </a:solidFill>
                <a:latin typeface="Aptos"/>
              </a:rPr>
              <a:t>The project focuses on railway-related posts and disruption signals—not on sentiment about everything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32461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267712"/>
            <a:ext cx="493776" cy="493776"/>
          </a:xfrm>
          <a:prstGeom prst="ellipse">
            <a:avLst/>
          </a:prstGeom>
          <a:solidFill>
            <a:srgbClr val="55C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4937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D3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26771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01D33"/>
                </a:solidFill>
                <a:latin typeface="Aptos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063240"/>
            <a:ext cx="2697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189"/>
                </a:solidFill>
                <a:latin typeface="Aptos"/>
              </a:rPr>
              <a:t>Public Bluesky posts
from a live stream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87368" y="3017520"/>
            <a:ext cx="347472" cy="0"/>
          </a:xfrm>
          <a:prstGeom prst="line">
            <a:avLst/>
          </a:prstGeom>
          <a:ln w="25400">
            <a:solidFill>
              <a:srgbClr val="1CB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2011680"/>
            <a:ext cx="32461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82312" y="2267712"/>
            <a:ext cx="493776" cy="493776"/>
          </a:xfrm>
          <a:prstGeom prst="ellipse">
            <a:avLst/>
          </a:prstGeom>
          <a:solidFill>
            <a:srgbClr val="1C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2395728"/>
            <a:ext cx="4937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D33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26771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01D33"/>
                </a:solidFill>
                <a:latin typeface="Aptos"/>
              </a:rP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063240"/>
            <a:ext cx="2697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189"/>
                </a:solidFill>
                <a:latin typeface="Aptos"/>
              </a:rPr>
              <a:t>Railway relevance +
negative / neutral / positive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82128" y="3017520"/>
            <a:ext cx="347472" cy="0"/>
          </a:xfrm>
          <a:prstGeom prst="line">
            <a:avLst/>
          </a:prstGeom>
          <a:ln w="25400">
            <a:solidFill>
              <a:srgbClr val="1CB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66760" y="2011680"/>
            <a:ext cx="324612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77072" y="2267712"/>
            <a:ext cx="493776" cy="493776"/>
          </a:xfrm>
          <a:prstGeom prst="ellipse">
            <a:avLst/>
          </a:prstGeom>
          <a:solidFill>
            <a:srgbClr val="F5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7072" y="2395728"/>
            <a:ext cx="4937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D33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26771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01D33"/>
                </a:solidFill>
                <a:latin typeface="Aptos"/>
              </a:rPr>
              <a:t>Inspect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3063240"/>
            <a:ext cx="2697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17189"/>
                </a:solidFill>
                <a:latin typeface="Aptos"/>
              </a:rPr>
              <a:t>Hourly trend + the posts
behind a spike or dip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72000"/>
            <a:ext cx="10835640" cy="8686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80060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36000"/>
                </a:solidFill>
                <a:latin typeface="Aptos"/>
              </a:rPr>
              <a:t>Scope guardrail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736592"/>
            <a:ext cx="8503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2237"/>
                </a:solidFill>
                <a:latin typeface="Aptos"/>
              </a:rPr>
              <a:t>A sentiment label is a model estimate. It does not prove that a post is about a train delay or explain why a disruption happened.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03 ·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1D33"/>
                </a:solidFill>
                <a:latin typeface="Aptos"/>
              </a:rPr>
              <a:t>The live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189"/>
                </a:solidFill>
                <a:latin typeface="Aptos"/>
              </a:rPr>
              <a:t>Notebook 01 collects and analyses; Notebook 02 visualises; Notebook 03 evaluates.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2011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2011680" cy="100584"/>
          </a:xfrm>
          <a:prstGeom prst="rect">
            <a:avLst/>
          </a:prstGeom>
          <a:solidFill>
            <a:srgbClr val="55C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578608"/>
            <a:ext cx="17190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5C9E8"/>
                </a:solidFill>
                <a:latin typeface="Aptos"/>
              </a:rPr>
              <a:t>LIVE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971800"/>
            <a:ext cx="171907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Bluesky Jetstream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529584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189"/>
                </a:solidFill>
                <a:latin typeface="Aptos"/>
              </a:rPr>
              <a:t>Public post events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42032" y="3246120"/>
            <a:ext cx="265176" cy="0"/>
          </a:xfrm>
          <a:prstGeom prst="line">
            <a:avLst/>
          </a:prstGeom>
          <a:ln w="22860">
            <a:solidFill>
              <a:srgbClr val="1CB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62072" y="2286000"/>
            <a:ext cx="2011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62072" y="2286000"/>
            <a:ext cx="2011680" cy="100584"/>
          </a:xfrm>
          <a:prstGeom prst="rect">
            <a:avLst/>
          </a:prstGeom>
          <a:solidFill>
            <a:srgbClr val="1C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2578608"/>
            <a:ext cx="17190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2971800"/>
            <a:ext cx="171907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Keyword + context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3529584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189"/>
                </a:solidFill>
                <a:latin typeface="Aptos"/>
              </a:rPr>
              <a:t>Rail relevance / disruption flag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1183" y="3246120"/>
            <a:ext cx="265177" cy="0"/>
          </a:xfrm>
          <a:prstGeom prst="line">
            <a:avLst/>
          </a:prstGeom>
          <a:ln w="22860">
            <a:solidFill>
              <a:srgbClr val="1CB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21224" y="2286000"/>
            <a:ext cx="2011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21224" y="2286000"/>
            <a:ext cx="2011680" cy="100584"/>
          </a:xfrm>
          <a:prstGeom prst="rect">
            <a:avLst/>
          </a:prstGeom>
          <a:solidFill>
            <a:srgbClr val="F5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8" y="2578608"/>
            <a:ext cx="17190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B84B"/>
                </a:solidFill>
                <a:latin typeface="Aptos"/>
              </a:rPr>
              <a:t>SENTIMENT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2971800"/>
            <a:ext cx="171907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Hugging Face Transformer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529584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189"/>
                </a:solidFill>
                <a:latin typeface="Aptos"/>
              </a:rPr>
              <a:t>Label + confidence score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60336" y="3246120"/>
            <a:ext cx="265176" cy="0"/>
          </a:xfrm>
          <a:prstGeom prst="line">
            <a:avLst/>
          </a:prstGeom>
          <a:ln w="22860">
            <a:solidFill>
              <a:srgbClr val="1CB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80376" y="2286000"/>
            <a:ext cx="2011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0376" y="2286000"/>
            <a:ext cx="2011680" cy="100584"/>
          </a:xfrm>
          <a:prstGeom prst="rect">
            <a:avLst/>
          </a:prstGeom>
          <a:solidFill>
            <a:srgbClr val="9B8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578608"/>
            <a:ext cx="17190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8AE6"/>
                </a:solidFill>
                <a:latin typeface="Aptos"/>
              </a:rPr>
              <a:t>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2971800"/>
            <a:ext cx="171907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SQLite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3529584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189"/>
                </a:solidFill>
                <a:latin typeface="Aptos"/>
              </a:rPr>
              <a:t>Text, timestamps, labels, metadata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19488" y="3246120"/>
            <a:ext cx="265176" cy="0"/>
          </a:xfrm>
          <a:prstGeom prst="line">
            <a:avLst/>
          </a:prstGeom>
          <a:ln w="22860">
            <a:solidFill>
              <a:srgbClr val="1CB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39528" y="2286000"/>
            <a:ext cx="2011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39528" y="2286000"/>
            <a:ext cx="2011680" cy="100584"/>
          </a:xfrm>
          <a:prstGeom prst="rect">
            <a:avLst/>
          </a:prstGeom>
          <a:solidFill>
            <a:srgbClr val="39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85832" y="2578608"/>
            <a:ext cx="17190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9B980"/>
                </a:solidFill>
                <a:latin typeface="Aptos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5832" y="2971800"/>
            <a:ext cx="171907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Hourly charts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5832" y="3529584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189"/>
                </a:solidFill>
                <a:latin typeface="Aptos"/>
              </a:rPr>
              <a:t>Trend + inspect source posts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800600"/>
            <a:ext cx="5166360" cy="64008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00176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D33"/>
                </a:solidFill>
                <a:latin typeface="Aptos"/>
              </a:rPr>
              <a:t>Notebook 01  ·  collector + local inference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800600"/>
            <a:ext cx="5257800" cy="640080"/>
          </a:xfrm>
          <a:prstGeom prst="roundRect">
            <a:avLst>
              <a:gd name="adj" fmla="val 12000"/>
            </a:avLst>
          </a:prstGeom>
          <a:solidFill>
            <a:srgbClr val="E6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00176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01D33"/>
                </a:solidFill>
                <a:latin typeface="Aptos"/>
              </a:rPr>
              <a:t>Notebook 02  ·  dashboard     |     Notebook 03  ·  evaluation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04 · AI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1D33"/>
                </a:solidFill>
                <a:latin typeface="Aptos"/>
              </a:rPr>
              <a:t>Use a pretrained transformer—not a chatbot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189"/>
                </a:solidFill>
                <a:latin typeface="Aptos"/>
              </a:rPr>
              <a:t>The model is loaded and run locally in Python using the Hugging Face Transformers library.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257800" cy="2194560"/>
          </a:xfrm>
          <a:prstGeom prst="roundRect">
            <a:avLst>
              <a:gd name="adj" fmla="val 12000"/>
            </a:avLst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20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53412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E8DC"/>
                </a:solidFill>
                <a:latin typeface="Aptos"/>
              </a:rPr>
              <a:t>PRIMARY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cardiffnlp/twitter-xlm-roberta-base-sentiment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6E5"/>
                </a:solidFill>
                <a:latin typeface="Aptos"/>
              </a:rPr>
              <a:t>Multilingual, social-media-oriented sentiment classifier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2578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103120"/>
            <a:ext cx="1828800" cy="310896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153412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699B"/>
                </a:solidFill>
                <a:latin typeface="Aptos"/>
              </a:rPr>
              <a:t>COMPARISON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70048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D33"/>
                </a:solidFill>
                <a:latin typeface="Aptos"/>
              </a:rPr>
              <a:t>cardiffnlp/twitter-roberta-base-sentiment-latest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4290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189"/>
                </a:solidFill>
                <a:latin typeface="Aptos"/>
              </a:rPr>
              <a:t>English-oriented social-media sentiment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4434840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04872" y="4485131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F6A67"/>
                </a:solidFill>
                <a:latin typeface="Aptos"/>
              </a:rPr>
              <a:t>NEGATIVE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4434840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4485131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5758B"/>
                </a:solidFill>
                <a:latin typeface="Aptos"/>
              </a:rPr>
              <a:t>NEUTRAL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4434840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E5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4072" y="4485131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9B980"/>
                </a:solidFill>
                <a:latin typeface="Aptos"/>
              </a:rPr>
              <a:t>POSITIVE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74920"/>
            <a:ext cx="10835640" cy="68580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76088"/>
            <a:ext cx="103327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237"/>
                </a:solidFill>
                <a:latin typeface="Aptos"/>
              </a:rPr>
              <a:t>Model choice must be tested on the actual Dutch stream. Verify each model card’s languages, training data, labels and licence before submission.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05 ·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1D33"/>
                </a:solidFill>
                <a:latin typeface="Aptos"/>
              </a:rPr>
              <a:t>A trend is only useful if the analyst can inspect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189"/>
                </a:solidFill>
                <a:latin typeface="Aptos"/>
              </a:rPr>
              <a:t>The dashboard notebook reads the SQLite database; it does not collect or classify new posts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672084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6720840" cy="566928"/>
          </a:xfrm>
          <a:prstGeom prst="roundRect">
            <a:avLst>
              <a:gd name="adj" fmla="val 12000"/>
            </a:avLst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56816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RAIL PULSE  /  DASHBOARD PREVIEW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92024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20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1970532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E8DC"/>
                </a:solidFill>
                <a:latin typeface="Aptos"/>
              </a:rPr>
              <a:t>LAST 48 HOURS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" y="2560320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610612"/>
            <a:ext cx="2825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36000"/>
                </a:solidFill>
                <a:latin typeface="Aptos"/>
              </a:rPr>
              <a:t>ILLUSTRATIVE LAYOUT — NOT LIVE RESULTS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7552" y="3154680"/>
            <a:ext cx="592531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7552" y="3810000"/>
            <a:ext cx="592531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7552" y="4465320"/>
            <a:ext cx="592531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7552" y="5120640"/>
            <a:ext cx="592531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" y="3705148"/>
            <a:ext cx="658368" cy="78639"/>
          </a:xfrm>
          <a:prstGeom prst="line">
            <a:avLst/>
          </a:prstGeom>
          <a:ln w="27940">
            <a:solidFill>
              <a:srgbClr val="EF6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45920" y="3783787"/>
            <a:ext cx="658368" cy="235915"/>
          </a:xfrm>
          <a:prstGeom prst="line">
            <a:avLst/>
          </a:prstGeom>
          <a:ln w="27940">
            <a:solidFill>
              <a:srgbClr val="EF6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304288" y="3646170"/>
            <a:ext cx="658368" cy="373532"/>
          </a:xfrm>
          <a:prstGeom prst="line">
            <a:avLst/>
          </a:prstGeom>
          <a:ln w="27940">
            <a:solidFill>
              <a:srgbClr val="EF6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62656" y="3646170"/>
            <a:ext cx="658368" cy="491490"/>
          </a:xfrm>
          <a:prstGeom prst="line">
            <a:avLst/>
          </a:prstGeom>
          <a:ln w="27940">
            <a:solidFill>
              <a:srgbClr val="EF6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21024" y="4137660"/>
            <a:ext cx="658368" cy="235915"/>
          </a:xfrm>
          <a:prstGeom prst="line">
            <a:avLst/>
          </a:prstGeom>
          <a:ln w="27940">
            <a:solidFill>
              <a:srgbClr val="EF6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279392" y="3901744"/>
            <a:ext cx="658368" cy="471831"/>
          </a:xfrm>
          <a:prstGeom prst="line">
            <a:avLst/>
          </a:prstGeom>
          <a:ln w="27940">
            <a:solidFill>
              <a:srgbClr val="EF6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7760" y="3901744"/>
            <a:ext cx="658368" cy="707746"/>
          </a:xfrm>
          <a:prstGeom prst="line">
            <a:avLst/>
          </a:prstGeom>
          <a:ln w="27940">
            <a:solidFill>
              <a:srgbClr val="EF6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596128" y="4235958"/>
            <a:ext cx="658368" cy="373532"/>
          </a:xfrm>
          <a:prstGeom prst="line">
            <a:avLst/>
          </a:prstGeom>
          <a:ln w="27940">
            <a:solidFill>
              <a:srgbClr val="EF6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254496" y="4235958"/>
            <a:ext cx="658368" cy="294894"/>
          </a:xfrm>
          <a:prstGeom prst="line">
            <a:avLst/>
          </a:prstGeom>
          <a:ln w="27940">
            <a:solidFill>
              <a:srgbClr val="EF6A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" y="4039362"/>
            <a:ext cx="658368" cy="98298"/>
          </a:xfrm>
          <a:prstGeom prst="line">
            <a:avLst/>
          </a:prstGeom>
          <a:ln w="27940">
            <a:solidFill>
              <a:srgbClr val="7A8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645920" y="3941064"/>
            <a:ext cx="658368" cy="196596"/>
          </a:xfrm>
          <a:prstGeom prst="line">
            <a:avLst/>
          </a:prstGeom>
          <a:ln w="27940">
            <a:solidFill>
              <a:srgbClr val="7A8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04288" y="3941064"/>
            <a:ext cx="658368" cy="176936"/>
          </a:xfrm>
          <a:prstGeom prst="line">
            <a:avLst/>
          </a:prstGeom>
          <a:ln w="27940">
            <a:solidFill>
              <a:srgbClr val="7A8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962656" y="3882085"/>
            <a:ext cx="658368" cy="235915"/>
          </a:xfrm>
          <a:prstGeom prst="line">
            <a:avLst/>
          </a:prstGeom>
          <a:ln w="27940">
            <a:solidFill>
              <a:srgbClr val="7A8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21024" y="3882085"/>
            <a:ext cx="658368" cy="137617"/>
          </a:xfrm>
          <a:prstGeom prst="line">
            <a:avLst/>
          </a:prstGeom>
          <a:ln w="27940">
            <a:solidFill>
              <a:srgbClr val="7A8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79392" y="4019702"/>
            <a:ext cx="658368" cy="157277"/>
          </a:xfrm>
          <a:prstGeom prst="line">
            <a:avLst/>
          </a:prstGeom>
          <a:ln w="27940">
            <a:solidFill>
              <a:srgbClr val="7A8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937760" y="3980383"/>
            <a:ext cx="658368" cy="196596"/>
          </a:xfrm>
          <a:prstGeom prst="line">
            <a:avLst/>
          </a:prstGeom>
          <a:ln w="27940">
            <a:solidFill>
              <a:srgbClr val="7A8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96128" y="3980383"/>
            <a:ext cx="658368" cy="117957"/>
          </a:xfrm>
          <a:prstGeom prst="line">
            <a:avLst/>
          </a:prstGeom>
          <a:ln w="27940">
            <a:solidFill>
              <a:srgbClr val="7A8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254496" y="4039362"/>
            <a:ext cx="658368" cy="58978"/>
          </a:xfrm>
          <a:prstGeom prst="line">
            <a:avLst/>
          </a:prstGeom>
          <a:ln w="27940">
            <a:solidFill>
              <a:srgbClr val="7A8C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87552" y="4432554"/>
            <a:ext cx="658368" cy="98298"/>
          </a:xfrm>
          <a:prstGeom prst="line">
            <a:avLst/>
          </a:prstGeom>
          <a:ln w="27940">
            <a:solidFill>
              <a:srgbClr val="39B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45920" y="4294936"/>
            <a:ext cx="658368" cy="137618"/>
          </a:xfrm>
          <a:prstGeom prst="line">
            <a:avLst/>
          </a:prstGeom>
          <a:ln w="27940">
            <a:solidFill>
              <a:srgbClr val="39B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04288" y="4294936"/>
            <a:ext cx="658368" cy="157277"/>
          </a:xfrm>
          <a:prstGeom prst="line">
            <a:avLst/>
          </a:prstGeom>
          <a:ln w="27940">
            <a:solidFill>
              <a:srgbClr val="39B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962656" y="4373575"/>
            <a:ext cx="658368" cy="78638"/>
          </a:xfrm>
          <a:prstGeom prst="line">
            <a:avLst/>
          </a:prstGeom>
          <a:ln w="27940">
            <a:solidFill>
              <a:srgbClr val="39B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621024" y="4157319"/>
            <a:ext cx="658368" cy="216256"/>
          </a:xfrm>
          <a:prstGeom prst="line">
            <a:avLst/>
          </a:prstGeom>
          <a:ln w="27940">
            <a:solidFill>
              <a:srgbClr val="39B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279392" y="4157319"/>
            <a:ext cx="658368" cy="176937"/>
          </a:xfrm>
          <a:prstGeom prst="line">
            <a:avLst/>
          </a:prstGeom>
          <a:ln w="27940">
            <a:solidFill>
              <a:srgbClr val="39B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937760" y="4098340"/>
            <a:ext cx="658368" cy="235916"/>
          </a:xfrm>
          <a:prstGeom prst="line">
            <a:avLst/>
          </a:prstGeom>
          <a:ln w="27940">
            <a:solidFill>
              <a:srgbClr val="39B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596128" y="4098340"/>
            <a:ext cx="658368" cy="117958"/>
          </a:xfrm>
          <a:prstGeom prst="line">
            <a:avLst/>
          </a:prstGeom>
          <a:ln w="27940">
            <a:solidFill>
              <a:srgbClr val="39B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254496" y="4059021"/>
            <a:ext cx="658368" cy="157277"/>
          </a:xfrm>
          <a:prstGeom prst="line">
            <a:avLst/>
          </a:prstGeom>
          <a:ln w="27940">
            <a:solidFill>
              <a:srgbClr val="39B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024128" y="5321808"/>
            <a:ext cx="137160" cy="137160"/>
          </a:xfrm>
          <a:prstGeom prst="rect">
            <a:avLst/>
          </a:prstGeom>
          <a:solidFill>
            <a:srgbClr val="EF6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16152" y="5294376"/>
            <a:ext cx="8686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17189"/>
                </a:solidFill>
                <a:latin typeface="Aptos"/>
              </a:rPr>
              <a:t>Negative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50008" y="5321808"/>
            <a:ext cx="137160" cy="137160"/>
          </a:xfrm>
          <a:prstGeom prst="rect">
            <a:avLst/>
          </a:prstGeom>
          <a:solidFill>
            <a:srgbClr val="7A8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2032" y="5294376"/>
            <a:ext cx="8686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17189"/>
                </a:solidFill>
                <a:latin typeface="Aptos"/>
              </a:rPr>
              <a:t>Neutral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75887" y="5321808"/>
            <a:ext cx="137160" cy="137160"/>
          </a:xfrm>
          <a:prstGeom prst="rect">
            <a:avLst/>
          </a:prstGeom>
          <a:solidFill>
            <a:srgbClr val="39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67912" y="5294376"/>
            <a:ext cx="8686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17189"/>
                </a:solidFill>
                <a:latin typeface="Aptos"/>
              </a:rPr>
              <a:t>Positive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26679" y="1874519"/>
            <a:ext cx="37033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26679" y="1874519"/>
            <a:ext cx="64008" cy="1097280"/>
          </a:xfrm>
          <a:prstGeom prst="rect">
            <a:avLst/>
          </a:prstGeom>
          <a:solidFill>
            <a:srgbClr val="1C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36992" y="2039112"/>
            <a:ext cx="3319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Hourly sentiment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496312"/>
            <a:ext cx="3310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189"/>
                </a:solidFill>
                <a:latin typeface="Aptos"/>
              </a:rPr>
              <a:t>See counts or negative share per hour.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26679" y="3182112"/>
            <a:ext cx="37033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79" y="3182112"/>
            <a:ext cx="64008" cy="1097280"/>
          </a:xfrm>
          <a:prstGeom prst="rect">
            <a:avLst/>
          </a:prstGeom>
          <a:solidFill>
            <a:srgbClr val="55C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36992" y="3346704"/>
            <a:ext cx="3319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Inspect a spike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3803904"/>
            <a:ext cx="3310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189"/>
                </a:solidFill>
                <a:latin typeface="Aptos"/>
              </a:rPr>
              <a:t>Choose an hour and open the posts behind it.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26679" y="4489704"/>
            <a:ext cx="37033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26679" y="4489704"/>
            <a:ext cx="64008" cy="1097280"/>
          </a:xfrm>
          <a:prstGeom prst="rect">
            <a:avLst/>
          </a:prstGeom>
          <a:solidFill>
            <a:srgbClr val="F5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36992" y="4654296"/>
            <a:ext cx="3319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Check collector health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36992" y="5111496"/>
            <a:ext cx="33101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189"/>
                </a:solidFill>
                <a:latin typeface="Aptos"/>
              </a:rPr>
              <a:t>Heartbeat, event counts, reconnects and stored rows.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06 · EARLY RUN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1D33"/>
                </a:solidFill>
                <a:latin typeface="Aptos"/>
              </a:rPr>
              <a:t>The supplied archive is a smoke test—not a final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189"/>
                </a:solidFill>
                <a:latin typeface="Aptos"/>
              </a:rPr>
              <a:t>Snapshot in `test/a/data/rail_pulse.sqlite3`; times below are UTC.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99339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5C9E8"/>
                </a:solidFill>
                <a:latin typeface="Aptos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5059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189"/>
                </a:solidFill>
                <a:latin typeface="Aptos"/>
              </a:rPr>
              <a:t>rows stored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99339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B8A7"/>
                </a:solidFill>
                <a:latin typeface="Aptos"/>
              </a:rPr>
              <a:t>~11h 52m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45059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189"/>
                </a:solidFill>
                <a:latin typeface="Aptos"/>
              </a:rPr>
              <a:t>observed time span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99339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B84B"/>
                </a:solidFill>
                <a:latin typeface="Aptos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45059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189"/>
                </a:solidFill>
                <a:latin typeface="Aptos"/>
              </a:rPr>
              <a:t>flagged as disruptions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82880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1" y="199339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F6A67"/>
                </a:solidFill>
                <a:latin typeface="Aptos"/>
              </a:rP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1" y="245059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189"/>
                </a:solidFill>
                <a:latin typeface="Aptos"/>
              </a:rPr>
              <a:t>required minimum rows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46120"/>
            <a:ext cx="658368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5643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Stored model labels (n = 72)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5020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237"/>
                </a:solidFill>
                <a:latin typeface="Aptos"/>
              </a:rPr>
              <a:t>Negative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3963924"/>
            <a:ext cx="3977639" cy="201168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057400" y="3963924"/>
            <a:ext cx="3281552" cy="201168"/>
          </a:xfrm>
          <a:prstGeom prst="roundRect">
            <a:avLst>
              <a:gd name="adj" fmla="val 12000"/>
            </a:avLst>
          </a:prstGeom>
          <a:solidFill>
            <a:srgbClr val="EF6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95020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A67"/>
                </a:solidFill>
                <a:latin typeface="Aptos"/>
              </a:rPr>
              <a:t>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0740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237"/>
                </a:solidFill>
                <a:latin typeface="Aptos"/>
              </a:rPr>
              <a:t>Neutral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57400" y="4421124"/>
            <a:ext cx="3977639" cy="201168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057400" y="4421124"/>
            <a:ext cx="2386584" cy="201168"/>
          </a:xfrm>
          <a:prstGeom prst="roundRect">
            <a:avLst>
              <a:gd name="adj" fmla="val 12000"/>
            </a:avLst>
          </a:prstGeom>
          <a:solidFill>
            <a:srgbClr val="7A8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40740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8CA3"/>
                </a:solidFill>
                <a:latin typeface="Aptos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6460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237"/>
                </a:solidFill>
                <a:latin typeface="Aptos"/>
              </a:rPr>
              <a:t>Positive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57400" y="4878324"/>
            <a:ext cx="3977639" cy="201168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057400" y="4878324"/>
            <a:ext cx="1491615" cy="201168"/>
          </a:xfrm>
          <a:prstGeom prst="roundRect">
            <a:avLst>
              <a:gd name="adj" fmla="val 12000"/>
            </a:avLst>
          </a:prstGeom>
          <a:solidFill>
            <a:srgbClr val="39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86460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9B980"/>
                </a:solidFill>
                <a:latin typeface="Aptos"/>
              </a:rPr>
              <a:t>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3246120"/>
            <a:ext cx="3886200" cy="233172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35204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D33"/>
                </a:solidFill>
                <a:latin typeface="Aptos"/>
              </a:rPr>
              <a:t>Why not interpret this as passenger mood?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315968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237"/>
                </a:solidFill>
                <a:latin typeface="Aptos"/>
              </a:rPr>
              <a:t>The archive contains unrelated posts incorrectly stored as railway-related. The counts above describe current stored labels only—not valid public sentiment about Dutch rail.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07 ·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1D33"/>
                </a:solidFill>
                <a:latin typeface="Aptos"/>
              </a:rPr>
              <a:t>The current database has false positives and a path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189"/>
                </a:solidFill>
                <a:latin typeface="Aptos"/>
              </a:rPr>
              <a:t>This must be fixed before the chart can support a service-quality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6A67"/>
                </a:solidFill>
                <a:latin typeface="Aptos"/>
              </a:rPr>
              <a:t>FALSE POSITIVE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D33"/>
                </a:solidFill>
                <a:latin typeface="Aptos"/>
              </a:rPr>
              <a:t>“Poor Cherries (2018) … #metrostation”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237"/>
                </a:solidFill>
                <a:latin typeface="Aptos"/>
              </a:rPr>
              <a:t>Stored as category = rail; matched term = “station”. The post is about a film, not Dutch railways.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57800" cy="205740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084831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36000"/>
                </a:solidFill>
                <a:latin typeface="Aptos"/>
              </a:rPr>
              <a:t>DATABASE PATH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5420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1D33"/>
                </a:solidFill>
                <a:latin typeface="Aptos"/>
              </a:rPr>
              <a:t>Collector +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57860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237"/>
                </a:solidFill>
                <a:latin typeface="Aptos"/>
              </a:rPr>
              <a:t>`data/rail_pulse.sqlite3`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07238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1D33"/>
                </a:solidFill>
                <a:latin typeface="Aptos"/>
              </a:rPr>
              <a:t>Evaluation notebook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31089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237"/>
                </a:solidFill>
                <a:latin typeface="Aptos"/>
              </a:rPr>
              <a:t>`rail_pulse.sqlite3`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15968"/>
            <a:ext cx="10863072" cy="868680"/>
          </a:xfrm>
          <a:prstGeom prst="roundRect">
            <a:avLst>
              <a:gd name="adj" fmla="val 12000"/>
            </a:avLst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62856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B8A7"/>
                </a:solidFill>
                <a:latin typeface="Aptos"/>
              </a:rPr>
              <a:t>Action before the official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517136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Fix the evaluation path, clear old test rows safely, rerun filter self-tests, then collect a clean new 48-hour dataset.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08 ·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1D33"/>
                </a:solidFill>
                <a:latin typeface="Aptos"/>
              </a:rPr>
              <a:t>How we will test whether the sentiment labels are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189"/>
                </a:solidFill>
                <a:latin typeface="Aptos"/>
              </a:rPr>
              <a:t>The supplied notebook contains the workflow, but no completed 50-item comparison CSV is present in the archive.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542032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240280"/>
            <a:ext cx="438912" cy="438912"/>
          </a:xfrm>
          <a:prstGeom prst="ellipse">
            <a:avLst/>
          </a:prstGeom>
          <a:solidFill>
            <a:srgbClr val="55C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35000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D3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267712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Sample 50 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07792"/>
            <a:ext cx="21031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189"/>
                </a:solidFill>
                <a:latin typeface="Aptos"/>
              </a:rPr>
              <a:t>Choose a defined scope: all railway posts or disruption-only.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27832" y="2926080"/>
            <a:ext cx="201168" cy="0"/>
          </a:xfrm>
          <a:prstGeom prst="line">
            <a:avLst/>
          </a:prstGeom>
          <a:ln w="21590">
            <a:solidFill>
              <a:srgbClr val="1CB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11296" y="2011680"/>
            <a:ext cx="2542032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12463" y="2240280"/>
            <a:ext cx="438912" cy="438912"/>
          </a:xfrm>
          <a:prstGeom prst="ellipse">
            <a:avLst/>
          </a:prstGeom>
          <a:solidFill>
            <a:srgbClr val="1C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3" y="235000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D3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2267712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Human-label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2907792"/>
            <a:ext cx="21031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189"/>
                </a:solidFill>
                <a:latin typeface="Aptos"/>
              </a:rPr>
              <a:t>Label positive / neutral / negative before seeing model predictions.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926080"/>
            <a:ext cx="201167" cy="0"/>
          </a:xfrm>
          <a:prstGeom prst="line">
            <a:avLst/>
          </a:prstGeom>
          <a:ln w="21590">
            <a:solidFill>
              <a:srgbClr val="1CB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64224" y="2011680"/>
            <a:ext cx="2542032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240280"/>
            <a:ext cx="438912" cy="438912"/>
          </a:xfrm>
          <a:prstGeom prst="ellipse">
            <a:avLst/>
          </a:prstGeom>
          <a:solidFill>
            <a:srgbClr val="F5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35000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D33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267712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Run both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907792"/>
            <a:ext cx="21031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189"/>
                </a:solidFill>
                <a:latin typeface="Aptos"/>
              </a:rPr>
              <a:t>Score the same 50 texts with primary + comparison model.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33688" y="2926080"/>
            <a:ext cx="201168" cy="0"/>
          </a:xfrm>
          <a:prstGeom prst="line">
            <a:avLst/>
          </a:prstGeom>
          <a:ln w="21590">
            <a:solidFill>
              <a:srgbClr val="1CB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17152" y="2011680"/>
            <a:ext cx="2542032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0" y="2240280"/>
            <a:ext cx="438912" cy="438912"/>
          </a:xfrm>
          <a:prstGeom prst="ellipse">
            <a:avLst/>
          </a:prstGeom>
          <a:solidFill>
            <a:srgbClr val="EF6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235000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D33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267712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D33"/>
                </a:solidFill>
                <a:latin typeface="Aptos"/>
              </a:rPr>
              <a:t>Report errors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907792"/>
            <a:ext cx="21031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189"/>
                </a:solidFill>
                <a:latin typeface="Aptos"/>
              </a:rPr>
              <a:t>Accuracy + class-level results + at least 3 explained failures.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526280"/>
            <a:ext cx="10744200" cy="82296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77316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D33"/>
                </a:solidFill>
                <a:latin typeface="Aptos"/>
              </a:rPr>
              <a:t>Report honestly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690872"/>
            <a:ext cx="8458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237"/>
                </a:solidFill>
                <a:latin typeface="Aptos"/>
              </a:rPr>
              <a:t>Do not publish accuracy until all 50 human labels are complete. Explain sarcasm, negation, mixed messages, irrelevant announcements, and Dutch-language limits where they actually occur.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09 · ETHICS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1D33"/>
                </a:solidFill>
                <a:latin typeface="Aptos"/>
              </a:rPr>
              <a:t>A spike is a prompt to investigate—not a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189"/>
                </a:solidFill>
                <a:latin typeface="Aptos"/>
              </a:rPr>
              <a:t>The product should support human judgement and avoid claiming to represent every passenger.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1865376"/>
            <a:ext cx="329184" cy="329184"/>
          </a:xfrm>
          <a:prstGeom prst="ellipse">
            <a:avLst/>
          </a:prstGeom>
          <a:solidFill>
            <a:srgbClr val="55C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43100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1D33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8288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D33"/>
                </a:solidFill>
                <a:latin typeface="Aptos"/>
              </a:rPr>
              <a:t>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82880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189"/>
                </a:solidFill>
                <a:latin typeface="Aptos"/>
              </a:rPr>
              <a:t>Only people who post publicly are visible. Many passengers never post.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2615184"/>
            <a:ext cx="329184" cy="329184"/>
          </a:xfrm>
          <a:prstGeom prst="ellipse">
            <a:avLst/>
          </a:prstGeom>
          <a:solidFill>
            <a:srgbClr val="1C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692908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1D3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57860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D33"/>
                </a:solidFill>
                <a:latin typeface="Aptos"/>
              </a:rPr>
              <a:t>Language &amp; 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2578608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189"/>
                </a:solidFill>
                <a:latin typeface="Aptos"/>
              </a:rPr>
              <a:t>Sarcasm, dialect, negation, mixed sentiment and Dutch expressions can confuse the model.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364991"/>
            <a:ext cx="329184" cy="329184"/>
          </a:xfrm>
          <a:prstGeom prst="ellipse">
            <a:avLst/>
          </a:prstGeom>
          <a:solidFill>
            <a:srgbClr val="F5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42715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1D33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328415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D33"/>
                </a:solidFill>
                <a:latin typeface="Aptos"/>
              </a:rPr>
              <a:t>Bots &amp;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3328415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189"/>
                </a:solidFill>
                <a:latin typeface="Aptos"/>
              </a:rPr>
              <a:t>One account or automated service alert can distort hourly counts.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" y="4114800"/>
            <a:ext cx="329184" cy="329184"/>
          </a:xfrm>
          <a:prstGeom prst="ellipse">
            <a:avLst/>
          </a:prstGeom>
          <a:solidFill>
            <a:srgbClr val="EF6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192524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1D33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07822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D33"/>
                </a:solidFill>
                <a:latin typeface="Aptos"/>
              </a:rPr>
              <a:t>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7248" y="4078224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189"/>
                </a:solidFill>
                <a:latin typeface="Aptos"/>
              </a:rPr>
              <a:t>The collector hashes post URIs and does not store handles or profile data; retain only what is necessary.</a:t>
            </a:r>
          </a:p>
        </p:txBody>
      </p:sp>
      <p:sp>
        <p:nvSpPr>
          <p:cNvPr id="23" name="Oval 22"/>
          <p:cNvSpPr/>
          <p:nvPr/>
        </p:nvSpPr>
        <p:spPr>
          <a:xfrm>
            <a:off x="749808" y="4864607"/>
            <a:ext cx="329184" cy="329184"/>
          </a:xfrm>
          <a:prstGeom prst="ellipse">
            <a:avLst/>
          </a:prstGeom>
          <a:solidFill>
            <a:srgbClr val="39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42331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01D33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828031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D33"/>
                </a:solidFill>
                <a:latin typeface="Aptos"/>
              </a:rPr>
              <a:t>Decision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4828031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17189"/>
                </a:solidFill>
                <a:latin typeface="Aptos"/>
              </a:rPr>
              <a:t>Display post counts and a warning; require a human to inspect examples before escalation.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10 ·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1D33"/>
                </a:solidFill>
                <a:latin typeface="Aptos"/>
              </a:rPr>
              <a:t>What must be true before the final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17189"/>
                </a:solidFill>
                <a:latin typeface="Aptos"/>
              </a:rPr>
              <a:t>The brief’s core evidence requirements are measurable; the current ZIP does not yet satisfy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10771632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12984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1947672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237"/>
                </a:solidFill>
                <a:latin typeface="Aptos"/>
              </a:rPr>
              <a:t>48+ hours of actual continuous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47672"/>
            <a:ext cx="34107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A67"/>
                </a:solidFill>
                <a:latin typeface="Aptos"/>
              </a:rPr>
              <a:t>NOT YET SHOWN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96312"/>
            <a:ext cx="10771632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42616"/>
            <a:ext cx="12984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2615184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237"/>
                </a:solidFill>
                <a:latin typeface="Aptos"/>
              </a:rPr>
              <a:t>300+ real, relevant stored posts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15184"/>
            <a:ext cx="34107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A67"/>
                </a:solidFill>
                <a:latin typeface="Aptos"/>
              </a:rPr>
              <a:t>NOT MET IN ARCHIVE: 72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163824"/>
            <a:ext cx="10771632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10128"/>
            <a:ext cx="12984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3282696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237"/>
                </a:solidFill>
                <a:latin typeface="Aptos"/>
              </a:rPr>
              <a:t>Live trend + inspect a spike/dip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282696"/>
            <a:ext cx="34107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17189"/>
                </a:solidFill>
                <a:latin typeface="Aptos"/>
              </a:rPr>
              <a:t>Notebook implemented; live demo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31335"/>
            <a:ext cx="10771632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2984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3950207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237"/>
                </a:solidFill>
                <a:latin typeface="Aptos"/>
              </a:rPr>
              <a:t>50 blind human labels + model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950207"/>
            <a:ext cx="34107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A67"/>
                </a:solidFill>
                <a:latin typeface="Aptos"/>
              </a:rPr>
              <a:t>NOT PRESENT IN ARCHIVE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498848"/>
            <a:ext cx="10771632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45152"/>
            <a:ext cx="12984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CB8A7"/>
                </a:solidFill>
                <a:latin typeface="Aptos"/>
              </a:rPr>
              <a:t>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461772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237"/>
                </a:solidFill>
                <a:latin typeface="Aptos"/>
              </a:rPr>
              <a:t>README, model-card/licence notes, ethics, clean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17720"/>
            <a:ext cx="34107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17189"/>
                </a:solidFill>
                <a:latin typeface="Aptos"/>
              </a:rPr>
              <a:t>README exists; update names and paths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486400"/>
            <a:ext cx="10771632" cy="502920"/>
          </a:xfrm>
          <a:prstGeom prst="roundRect">
            <a:avLst>
              <a:gd name="adj" fmla="val 12000"/>
            </a:avLst>
          </a:prstGeom>
          <a:solidFill>
            <a:srgbClr val="10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418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Also: exclude `.venv/` from GitHub; check that only the intended database is used.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1718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18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77724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20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827532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E8DC"/>
                </a:solidFill>
                <a:latin typeface="Aptos"/>
              </a:rPr>
              <a:t>RAIL 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7680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From public posts
to actionable signals.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456432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4DFED"/>
                </a:solidFill>
                <a:latin typeface="Aptos"/>
              </a:rPr>
              <a:t>Rail Pulse continuously collects, classifies and visualises public railway-related posts so an analyst can decide what deserves a closer look.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4681728"/>
            <a:ext cx="6949440" cy="27432"/>
          </a:xfrm>
          <a:prstGeom prst="rect">
            <a:avLst/>
          </a:prstGeom>
          <a:solidFill>
            <a:srgbClr val="1C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501091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E8DC"/>
                </a:solidFill>
                <a:latin typeface="Aptos"/>
              </a:rPr>
              <a:t>The principle: useful early warning, transparent limits, human review.</a:t>
            </a:r>
          </a:p>
        </p:txBody>
      </p:sp>
      <p:sp>
        <p:nvSpPr>
          <p:cNvPr id="9" name="Oval 8"/>
          <p:cNvSpPr/>
          <p:nvPr/>
        </p:nvSpPr>
        <p:spPr>
          <a:xfrm>
            <a:off x="9144000" y="1188720"/>
            <a:ext cx="1005840" cy="1005840"/>
          </a:xfrm>
          <a:prstGeom prst="ellipse">
            <a:avLst/>
          </a:prstGeom>
          <a:solidFill>
            <a:srgbClr val="55C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2560320"/>
            <a:ext cx="502920" cy="502920"/>
          </a:xfrm>
          <a:prstGeom prst="ellipse">
            <a:avLst/>
          </a:prstGeom>
          <a:solidFill>
            <a:srgbClr val="F5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0" y="3657600"/>
            <a:ext cx="658368" cy="658368"/>
          </a:xfrm>
          <a:prstGeom prst="ellipse">
            <a:avLst/>
          </a:prstGeom>
          <a:solidFill>
            <a:srgbClr val="1C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24160" y="4572000"/>
            <a:ext cx="960120" cy="960120"/>
          </a:xfrm>
          <a:prstGeom prst="ellipse">
            <a:avLst/>
          </a:prstGeom>
          <a:solidFill>
            <a:srgbClr val="EF6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6C9"/>
                </a:solidFill>
                <a:latin typeface="Aptos"/>
              </a:rPr>
              <a:t>HACKATHON 6  ·  LIVE PULSE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6C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 Pulse — Hackathon 6: Live Pulse</dc:title>
  <dc:subject>Live data scanning and sentiment analysis for Dutch railway conversations</dc:subject>
  <dc:creator>Rail Pulse project team</dc:creator>
  <cp:keywords>Hackathon 6, Live Pulse, sentiment analysis, Bluesky, Hugging Face, SDG 9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