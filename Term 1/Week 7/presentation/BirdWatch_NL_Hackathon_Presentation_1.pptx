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2529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BirdWatch NL as a student-built, photo-based bird observation assistant for people in Dutch parks and neighbourhoods.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Source: https://www.sovon.nl/over-sovon and https://pub.sovon.nl/static/publicaties/Vogelbalans-2024_EN_LR.pdf. Do not claim the app itself measures population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demo: upload a photo, press Detect birds with AI, review the automatically filled counters, enter location and save.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Avoid overstating model quality. The 300 images are the training dataset size visible in the project screenshot; no validation accuracy or comprehensive benchmark was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real screenshot of the working app, not a mock-up. The output is one example, not a claim of overall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the saved table and CSV download. The CSV stores a photo filename rather than the original photo.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Distinguish implemented controls from proposed improvements. Current app warns about AI errors, allows manual correction, and discloses cloud transfer; further safeguards are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87163"/>
                </a:solidFill>
                <a:latin typeface="Aptos"/>
              </a:defRPr>
            </a:pPr>
            <a:r>
              <a:t>BIRDWATCH NL  /  SDG 15 — LIFE ON LAND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193C30"/>
                </a:solidFill>
                <a:latin typeface="Georgia"/>
              </a:defRPr>
            </a:pPr>
            <a:r>
              <a:t>A closer look at the birds around us.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5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7163"/>
                </a:solidFill>
                <a:latin typeface="Aptos"/>
              </a:defRPr>
            </a:pPr>
            <a:r>
              <a:t>1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10927080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6016752"/>
            <a:ext cx="10927080" cy="329184"/>
          </a:xfrm>
          <a:prstGeom prst="roundRect">
            <a:avLst/>
          </a:prstGeom>
          <a:solidFill>
            <a:srgbClr val="24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605332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PHOTO → AI DETECTION → HUMAN REVIEW → SAVED OBSERVATION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87163"/>
                </a:solidFill>
                <a:latin typeface="Aptos"/>
              </a:defRPr>
            </a:pPr>
            <a:r>
              <a:t>BIRDWATCH NL ·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193C30"/>
                </a:solidFill>
                <a:latin typeface="Georgia"/>
              </a:defRPr>
            </a:pPr>
            <a:r>
              <a:t>The problem: useful observations are hard to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5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716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THE DUTCH CONTEXT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Of 184 breeding-bird species, 82 declined and 88 increased (1990–2025).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Among 27 characteristic farmland-bird species, 21 declined (1990–2024).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Almost 2,000 volunteers and professionals contribute to Sovon waterbird monitoring.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THE SPECIFIC USER PROBLEM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Beginners photographing birds in Dutch parks and canals may struggle to identify broad bird groups, count individuals and keep a dated, organised record.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607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87163"/>
                </a:solidFill>
                <a:latin typeface="Aptos"/>
              </a:defRPr>
            </a:pPr>
            <a:r>
              <a:t>Sources: Compendium voor de Leefomgeving (2026a, 2026b); Sovon (n.d.). Figures describe different measures and periods.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87163"/>
                </a:solidFill>
                <a:latin typeface="Aptos"/>
              </a:defRPr>
            </a:pPr>
            <a:r>
              <a:t>BIRDWATCH NL ·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193C30"/>
                </a:solidFill>
                <a:latin typeface="Georgia"/>
              </a:defRPr>
            </a:pPr>
            <a:r>
              <a:t>Who is BirdWatch NL for?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5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716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PRIMARY USER — A BEGINNER BIRDWATCHER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Walks beside a canal or through a Dutch park; takes phone photos.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Needs a first suggestion, a count and an easy observation log.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May photograph distant, hidden or overlapping birds.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Needs to review the AI rather than trust it blindly.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SECONDARY USERS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Students, teachers, families and local nature-education groups.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NOT FOR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Professional survey teams or official biodiversity trend estimation.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607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87163"/>
                </a:solidFill>
                <a:latin typeface="Aptos"/>
              </a:defRPr>
            </a:pPr>
            <a:r>
              <a:t>User need is a research-informed hypothesis; no beginner interviews or usability study have yet validated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87163"/>
                </a:solidFill>
                <a:latin typeface="Aptos"/>
              </a:defRPr>
            </a:pPr>
            <a:r>
              <a:t>BIRDWATCH NL ·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193C30"/>
                </a:solidFill>
                <a:latin typeface="Georgia"/>
              </a:defRPr>
            </a:pPr>
            <a:r>
              <a:t>The solution: a real end-to-end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5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716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21792" cy="566928"/>
          </a:xfrm>
          <a:prstGeom prst="roundRect">
            <a:avLst/>
          </a:prstGeom>
          <a:solidFill>
            <a:srgbClr val="24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810512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92224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C30"/>
                </a:solidFill>
                <a:latin typeface="Aptos"/>
              </a:defRPr>
            </a:pPr>
            <a:r>
              <a:t>Upload a JPG/PNG bird photo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9464"/>
            <a:ext cx="621792" cy="566928"/>
          </a:xfrm>
          <a:prstGeom prst="roundRect">
            <a:avLst/>
          </a:prstGeom>
          <a:solidFill>
            <a:srgbClr val="24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642616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2432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C30"/>
                </a:solidFill>
                <a:latin typeface="Aptos"/>
              </a:defRPr>
            </a:pPr>
            <a:r>
              <a:t>Roboflow AI identifies and counts birds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01568"/>
            <a:ext cx="621792" cy="566928"/>
          </a:xfrm>
          <a:prstGeom prst="roundRect">
            <a:avLst/>
          </a:prstGeom>
          <a:solidFill>
            <a:srgbClr val="24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3474720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45643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C30"/>
                </a:solidFill>
                <a:latin typeface="Aptos"/>
              </a:defRPr>
            </a:pPr>
            <a:r>
              <a:t>User checks and edits six species counts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33672"/>
            <a:ext cx="621792" cy="566928"/>
          </a:xfrm>
          <a:prstGeom prst="roundRect">
            <a:avLst/>
          </a:prstGeom>
          <a:solidFill>
            <a:srgbClr val="24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4306824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288536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C30"/>
                </a:solidFill>
                <a:latin typeface="Aptos"/>
              </a:defRPr>
            </a:pPr>
            <a:r>
              <a:t>Add date, location and optional notes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65776"/>
            <a:ext cx="621792" cy="566928"/>
          </a:xfrm>
          <a:prstGeom prst="roundRect">
            <a:avLst/>
          </a:prstGeom>
          <a:solidFill>
            <a:srgbClr val="24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5138928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1206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C30"/>
                </a:solidFill>
                <a:latin typeface="Aptos"/>
              </a:defRPr>
            </a:pPr>
            <a:r>
              <a:t>Save the record and export 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87163"/>
                </a:solidFill>
                <a:latin typeface="Aptos"/>
              </a:defRPr>
            </a:pPr>
            <a:r>
              <a:t>BIRDWATCH NL ·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193C30"/>
                </a:solidFill>
                <a:latin typeface="Georgia"/>
              </a:defRPr>
            </a:pPr>
            <a:r>
              <a:t>Where the required AI tool is essential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5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716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489204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37960" y="1874519"/>
            <a:ext cx="489204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45A43"/>
                </a:solidFill>
                <a:latin typeface="Aptos"/>
              </a:defRPr>
            </a:pPr>
            <a:r>
              <a:t>ROBOFLOW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4251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300-image labelled dataset</a:t>
            </a:r>
          </a:p>
          <a:p>
            <a:pPr>
              <a:spcAft>
                <a:spcPts val="10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Trained object-detection model</a:t>
            </a:r>
          </a:p>
          <a:p>
            <a:pPr>
              <a:spcAft>
                <a:spcPts val="10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Published cloud workflow</a:t>
            </a:r>
          </a:p>
          <a:p>
            <a:pPr>
              <a:spcAft>
                <a:spcPts val="10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Returns bird class predictions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488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45A43"/>
                </a:solidFill>
                <a:latin typeface="Aptos"/>
              </a:defRPr>
            </a:pPr>
            <a:r>
              <a:t>STREAMLIT +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78892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Uploads the photo to the workflow</a:t>
            </a:r>
          </a:p>
          <a:p>
            <a:pPr>
              <a:spcAft>
                <a:spcPts val="10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Parses predicted species</a:t>
            </a:r>
          </a:p>
          <a:p>
            <a:pPr>
              <a:spcAft>
                <a:spcPts val="10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Prefills editable counters</a:t>
            </a:r>
          </a:p>
          <a:p>
            <a:pPr>
              <a:spcAft>
                <a:spcPts val="10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Saves records locally as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93C30"/>
                </a:solidFill>
                <a:latin typeface="Aptos"/>
              </a:defRPr>
            </a:pPr>
            <a:r>
              <a:t>Without Roboflow, the automatic identification and counting step would not exist.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87163"/>
                </a:solidFill>
                <a:latin typeface="Aptos"/>
              </a:defRPr>
            </a:pPr>
            <a:r>
              <a:t>BIRDWATCH NL ·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193C30"/>
                </a:solidFill>
                <a:latin typeface="Georgia"/>
              </a:defRPr>
            </a:pPr>
            <a:r>
              <a:t>Proof 1 — the AI detected a seagull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5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7163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64208"/>
            <a:ext cx="10881360" cy="43159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1081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45A43"/>
                </a:solidFill>
                <a:latin typeface="Aptos"/>
              </a:defRPr>
            </a:pPr>
            <a:r>
              <a:t>Observed result: AI found 1 bird; Seagull = 1; other five classes = 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87163"/>
                </a:solidFill>
                <a:latin typeface="Aptos"/>
              </a:defRPr>
            </a:pPr>
            <a:r>
              <a:t>BIRDWATCH NL ·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193C30"/>
                </a:solidFill>
                <a:latin typeface="Georgia"/>
              </a:defRPr>
            </a:pPr>
            <a:r>
              <a:t>Proof 2 — the observation was saved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5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7163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64208"/>
            <a:ext cx="1088136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807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45A43"/>
                </a:solidFill>
                <a:latin typeface="Aptos"/>
              </a:defRPr>
            </a:pPr>
            <a:r>
              <a:t>Observed record: 29 Oct 2026 · location “park” · seagull 1 · total 1 · CSV export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87163"/>
                </a:solidFill>
                <a:latin typeface="Aptos"/>
              </a:defRPr>
            </a:pPr>
            <a:r>
              <a:t>BIRDWATCH NL ·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193C30"/>
                </a:solidFill>
                <a:latin typeface="Georgia"/>
              </a:defRPr>
            </a:pPr>
            <a:r>
              <a:t>Why this solution fits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5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716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WHY THIS DESIGN FITS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Photo upload meets users where they already start: with a phone picture.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Roboflow gives a first detection and count of six broad bird groups.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Editable counters keep the observer responsible for the final record.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Date, general location, notes and CSV make sightings easier to organise.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EXISTING ALTERNATIVES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ObsIdentify already identifies nature from photos; Merlin/eBird can identify and locate birds. BirdWatch NL does not claim to be first. Its testable niche is a limited custom detector plus a simple correction-and-logging 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607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87163"/>
                </a:solidFill>
                <a:latin typeface="Aptos"/>
              </a:defRPr>
            </a:pPr>
            <a:r>
              <a:t>Research: Observation International (2026); eBird Support (2025). Whether beginners prefer this workflow remains untested.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87163"/>
                </a:solidFill>
                <a:latin typeface="Aptos"/>
              </a:defRPr>
            </a:pPr>
            <a:r>
              <a:t>BIRDWATCH NL ·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193C30"/>
                </a:solidFill>
                <a:latin typeface="Georgia"/>
              </a:defRPr>
            </a:pPr>
            <a:r>
              <a:t>Ethics: the risks are specific to this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5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716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RISK → CONSEQUENCE → MITIGATION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Wrong bird groups/counts → misleading records → warning + editable counts (implemented); test on unseen photos (next).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Uneven classes/backgrounds → biased predictions → inspect per-group performance, add diverse examples (next).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Unsupported birds (e.g., Eurasian coot) → wrong label → state the six-group scope; never relabel a coot as a duck.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People or sensitive nest locations in photos → privacy/disturbance → use broad locations, avoid identifiable people and nests.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Roboflow cloud processing → photos leave the device → inform users; keep API keys out of GitHub.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607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87163"/>
                </a:solidFill>
                <a:latin typeface="Aptos"/>
              </a:defRPr>
            </a:pPr>
            <a:r>
              <a:t>Also respect wildlife and image ownership: do not disturb birds, and use permitted/self-collected training photos.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87163"/>
                </a:solidFill>
                <a:latin typeface="Aptos"/>
              </a:defRPr>
            </a:pPr>
            <a:r>
              <a:t>BIRDWATCH NL ·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193C30"/>
                </a:solidFill>
                <a:latin typeface="Georgia"/>
              </a:defRPr>
            </a:pPr>
            <a:r>
              <a:t>What works — and what remains unproven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5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716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DEMONSTRATED IN THE APP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Local Streamlit website and working Roboflow workflow.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One uploaded image produced a prediction: one seagull.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User can correct six broad-group counts.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Date, location and notes can be saved to CSV; export works.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NOT YET ESTABLISHED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Precision/recall or counting error on unseen images.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Performance on distant birds, reflections or groups.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Benefit to beginners compared with doing the task manually.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• Suitability for scientific surveys or official SDG reporting.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607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87163"/>
                </a:solidFill>
                <a:latin typeface="Aptos"/>
              </a:defRPr>
            </a:pPr>
            <a:r>
              <a:t>Next test: unseen photos by group; count error and false detections; 3–5 beginner usability sessions.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587163"/>
                </a:solidFill>
                <a:latin typeface="Aptos"/>
              </a:defRPr>
            </a:pPr>
            <a:r>
              <a:t>BIRDWATCH NL ·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193C30"/>
                </a:solidFill>
                <a:latin typeface="Georgia"/>
              </a:defRPr>
            </a:pPr>
            <a:r>
              <a:t>Sources &amp; acknowledgement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5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716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DESK RESEARCH — KEY REFERENCES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Compendium voor de Leefomgeving (2026a). Farmland fauna, 1990–2024.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https://www.clo.nl/indicatoren/nl158010-fauna-van-het-agrarisch-gebied-1990-2024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Compendium voor de Leefomgeving (2026b). Breeding birds, 1990–2025.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https://www.clo.nl/indicatoren/nl138121-trend-van-broedvogels-1990-2025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Sovon (n.d.). Waterbird counts. https://www.sovon.nl/tellen/telprojecten/watervogeltelling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Sovon (2024). State of Birds in the Netherlands 2024.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United Nations (n.d.). SDG 15. https://sdgs.un.org/goals/goal15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Observation International (2026). ObsIdentify; eBird Support (2025). Merlin Photo ID.</a:t>
            </a:r>
          </a:p>
          <a:p>
            <a:pPr>
              <a:spcAft>
                <a:spcPts val="800"/>
              </a:spcAft>
              <a:defRPr sz="2000" b="0">
                <a:solidFill>
                  <a:srgbClr val="193C30"/>
                </a:solidFill>
                <a:latin typeface="Aptos"/>
              </a:defRPr>
            </a:pPr>
            <a:r>
              <a:t>Full reference list and research rationale: BirdWatch_NL_Desk_Research_Humanized.pdf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1166</Words>
  <Application>Microsoft Office PowerPoint</Application>
  <PresentationFormat>Widescreen</PresentationFormat>
  <Paragraphs>122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Domile Zukaite</dc:creator>
  <cp:keywords/>
  <dc:description>generated using python-pptx</dc:description>
  <cp:lastModifiedBy>Domile Zukaite</cp:lastModifiedBy>
  <cp:revision>2</cp:revision>
  <dcterms:created xsi:type="dcterms:W3CDTF">2013-01-27T09:14:16Z</dcterms:created>
  <dcterms:modified xsi:type="dcterms:W3CDTF">2026-10-30T10:28:23Z</dcterms:modified>
  <cp:category/>
</cp:coreProperties>
</file>